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2" r:id="rId9"/>
    <p:sldId id="269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50222-AF7B-4D7B-97B6-C433B2CF32A7}" type="datetimeFigureOut">
              <a:rPr lang="en-CM" smtClean="0"/>
              <a:t>20/08/2026</a:t>
            </a:fld>
            <a:endParaRPr lang="en-C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3480B-13A4-4690-9E63-69170F0E791B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862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F690-19E6-4E02-8BE6-4185B80212C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0997-ADB1-4D18-A82C-6FFC604110B3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91BE-666A-4822-95EB-539AD05A1A5F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65EC-75A3-4A02-8BB7-1CD601244838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B7FBB-CAF6-4562-B764-719F0783DC37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911E-687F-41D5-A1D6-28566857F0C8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930B-976F-4867-AAC6-E74A1B48FE48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292A-5F95-4350-9A3F-3177476BE4BA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0A48-51C6-47B0-9218-3995A53535F1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1E54-B665-4119-85E2-F926D75BCFDE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4D37-28C6-4BEE-8CEF-7B2F6996E260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DC85A-B1DD-4152-8A06-8E4BDF542DAB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533900"/>
            <a:ext cx="10648950" cy="64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5837" y="4772025"/>
            <a:ext cx="336232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F8FAFC"/>
                </a:solidFill>
                <a:latin typeface="Inter"/>
              </a:rPr>
              <a:t>Presented By</a:t>
            </a:r>
            <a:r>
              <a:rPr sz="1400" b="0" i="0" u="none" dirty="0">
                <a:solidFill>
                  <a:srgbClr val="94A3B8"/>
                </a:solidFill>
                <a:latin typeface="Inter"/>
              </a:rPr>
              <a:t> Ngene Brandon | Ngefor Marion | Nchang Vigiline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47665" y="4740361"/>
            <a:ext cx="35337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F8FAFC"/>
                </a:solidFill>
                <a:latin typeface="Inter"/>
              </a:rPr>
              <a:t>Organization &amp; Dept.</a:t>
            </a:r>
            <a:r>
              <a:rPr sz="1400" b="0" i="0" u="none" dirty="0">
                <a:solidFill>
                  <a:srgbClr val="94A3B8"/>
                </a:solidFill>
                <a:latin typeface="Inter"/>
              </a:rPr>
              <a:t> PRESPRINT PLC | </a:t>
            </a:r>
            <a:r>
              <a:rPr lang="en-US" sz="1400" b="0" i="0" u="none" dirty="0">
                <a:solidFill>
                  <a:srgbClr val="94A3B8"/>
                </a:solidFill>
                <a:latin typeface="Inter"/>
              </a:rPr>
              <a:t>PDL </a:t>
            </a:r>
            <a:r>
              <a:rPr sz="1400" b="0" i="0" u="none" dirty="0">
                <a:solidFill>
                  <a:srgbClr val="94A3B8"/>
                </a:solidFill>
                <a:latin typeface="Inter"/>
              </a:rPr>
              <a:t>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4911" y="2542010"/>
            <a:ext cx="8096250" cy="1301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2800" b="0" i="0" u="none" dirty="0">
                <a:solidFill>
                  <a:srgbClr val="CBD5E1"/>
                </a:solidFill>
                <a:latin typeface="Inter"/>
              </a:rPr>
              <a:t>A Client-Side Digital Internship Management System for Digitalizing Intern Registration, Attendance Tracking, Supervisor Assignment, and Performance Reporting</a:t>
            </a:r>
            <a:r>
              <a:rPr lang="en-US" sz="2800" b="0" i="0" u="none" dirty="0">
                <a:solidFill>
                  <a:srgbClr val="CBD5E1"/>
                </a:solidFill>
                <a:latin typeface="Inter"/>
              </a:rPr>
              <a:t>(</a:t>
            </a:r>
            <a:r>
              <a:rPr lang="en-US" sz="2800" b="1" dirty="0">
                <a:solidFill>
                  <a:srgbClr val="FFFFFF"/>
                </a:solidFill>
                <a:latin typeface="Poppins"/>
              </a:rPr>
              <a:t>INTERNFLOW)</a:t>
            </a:r>
            <a:endParaRPr sz="28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962E3-68D3-3B3E-CD7D-C5C819BE6F98}"/>
              </a:ext>
            </a:extLst>
          </p:cNvPr>
          <p:cNvSpPr txBox="1"/>
          <p:nvPr/>
        </p:nvSpPr>
        <p:spPr>
          <a:xfrm>
            <a:off x="771525" y="86151"/>
            <a:ext cx="10648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i="0" u="none" dirty="0">
                <a:solidFill>
                  <a:srgbClr val="FFFFFF"/>
                </a:solidFill>
                <a:latin typeface="Poppins"/>
              </a:rPr>
              <a:t>INTERNSHIP PRESENTATION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25DFA-C935-2759-0F0F-A17B89BEE760}"/>
              </a:ext>
            </a:extLst>
          </p:cNvPr>
          <p:cNvSpPr txBox="1"/>
          <p:nvPr/>
        </p:nvSpPr>
        <p:spPr>
          <a:xfrm>
            <a:off x="2847975" y="1088175"/>
            <a:ext cx="6177394" cy="748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800" dirty="0">
                <a:solidFill>
                  <a:srgbClr val="CBD5E1"/>
                </a:solidFill>
                <a:latin typeface="Inter"/>
              </a:rPr>
              <a:t>Start date: 1</a:t>
            </a:r>
            <a:r>
              <a:rPr lang="en-US" sz="2800" baseline="30000" dirty="0">
                <a:solidFill>
                  <a:srgbClr val="CBD5E1"/>
                </a:solidFill>
                <a:latin typeface="Inter"/>
              </a:rPr>
              <a:t>st</a:t>
            </a:r>
            <a:r>
              <a:rPr lang="en-US" sz="2800" dirty="0">
                <a:solidFill>
                  <a:srgbClr val="CBD5E1"/>
                </a:solidFill>
                <a:latin typeface="Inter"/>
              </a:rPr>
              <a:t> July 2026</a:t>
            </a:r>
          </a:p>
          <a:p>
            <a:pPr algn="ctr">
              <a:lnSpc>
                <a:spcPts val="2475"/>
              </a:lnSpc>
            </a:pPr>
            <a:r>
              <a:rPr lang="en-US" sz="2800" b="0" i="0" u="none" dirty="0">
                <a:solidFill>
                  <a:srgbClr val="CBD5E1"/>
                </a:solidFill>
                <a:latin typeface="Inter"/>
              </a:rPr>
              <a:t>End date: 30</a:t>
            </a:r>
            <a:r>
              <a:rPr lang="en-US" sz="2800" b="0" i="0" u="none" baseline="30000" dirty="0">
                <a:solidFill>
                  <a:srgbClr val="CBD5E1"/>
                </a:solidFill>
                <a:latin typeface="Inter"/>
              </a:rPr>
              <a:t>th</a:t>
            </a:r>
            <a:r>
              <a:rPr lang="en-US" sz="2800" b="0" i="0" u="none" dirty="0">
                <a:solidFill>
                  <a:srgbClr val="CBD5E1"/>
                </a:solidFill>
                <a:latin typeface="Inter"/>
              </a:rPr>
              <a:t> August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5B6ADF-8992-7893-C500-BB10963C71F2}"/>
              </a:ext>
            </a:extLst>
          </p:cNvPr>
          <p:cNvSpPr txBox="1"/>
          <p:nvPr/>
        </p:nvSpPr>
        <p:spPr>
          <a:xfrm>
            <a:off x="2847975" y="5255332"/>
            <a:ext cx="6177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8FAFC"/>
                </a:solidFill>
                <a:latin typeface="Inter"/>
              </a:rPr>
              <a:t>Supervisor </a:t>
            </a:r>
            <a:r>
              <a:rPr lang="en-US" sz="1400" dirty="0">
                <a:solidFill>
                  <a:srgbClr val="94A3B8"/>
                </a:solidFill>
                <a:latin typeface="Inter"/>
              </a:rPr>
              <a:t>Mr. Djama Vincent Joel</a:t>
            </a:r>
            <a:endParaRPr lang="en-US" sz="14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DEFBCA-FE20-4FE3-AFA4-BEA7A487C758}"/>
              </a:ext>
            </a:extLst>
          </p:cNvPr>
          <p:cNvSpPr txBox="1"/>
          <p:nvPr/>
        </p:nvSpPr>
        <p:spPr>
          <a:xfrm>
            <a:off x="2587336" y="5979032"/>
            <a:ext cx="6826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8FAFC"/>
                </a:solidFill>
                <a:latin typeface="Inter"/>
              </a:rPr>
              <a:t>Date:</a:t>
            </a:r>
            <a:r>
              <a:rPr lang="en-US" sz="2400" dirty="0">
                <a:solidFill>
                  <a:srgbClr val="94A3B8"/>
                </a:solidFill>
                <a:latin typeface="Inter"/>
              </a:rPr>
              <a:t> 21</a:t>
            </a:r>
            <a:r>
              <a:rPr lang="en-US" sz="2400" baseline="30000" dirty="0">
                <a:solidFill>
                  <a:srgbClr val="94A3B8"/>
                </a:solidFill>
                <a:latin typeface="Inter"/>
              </a:rPr>
              <a:t>st</a:t>
            </a:r>
            <a:r>
              <a:rPr lang="en-US" sz="2400" dirty="0">
                <a:solidFill>
                  <a:srgbClr val="94A3B8"/>
                </a:solidFill>
                <a:latin typeface="Inter"/>
              </a:rPr>
              <a:t> August 2026</a:t>
            </a:r>
            <a:endParaRPr lang="en-US" sz="24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82D9A8-E3E0-F492-F29E-4D0CF9A3A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98" y="14956"/>
            <a:ext cx="1460078" cy="902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64221"/>
            <a:ext cx="5372100" cy="38266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64221"/>
            <a:ext cx="5372100" cy="38266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2169021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2550021"/>
            <a:ext cx="495061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Manual Operational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2978646"/>
            <a:ext cx="47148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Internship tracking at PRESPRINT PLC currently relies entirely on manual, paper-based workflows: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2359521"/>
            <a:ext cx="495061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Key Operational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2788146"/>
            <a:ext cx="471487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Manual methods introduce severe administrative vulnerabilities and inefficiencies: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59646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594794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Interns fill manual paper registration forms upon onboarding.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19355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191892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Daily attendance is recorded in physical attendance logbooks.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79065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4788991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Supervisor assignments are communicated verbally, leading to mix-ups.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550" y="340596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404294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Error Prone: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Physical records suffer from handwriting inaccuracies and risk of loss/damage.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400305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4001392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Slow Retrieval: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Searching historic logs takes substantial time and effort.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6550" y="460015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4598491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Poor Monitoring: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Difficulty evaluating attendance trends and overall intern performance.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The Challenge at PRESPRINT PLC</a:t>
            </a:r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A87918B3-D1D5-79D4-9E41-A69FC57D2BC4}"/>
              </a:ext>
            </a:extLst>
          </p:cNvPr>
          <p:cNvSpPr/>
          <p:nvPr/>
        </p:nvSpPr>
        <p:spPr>
          <a:xfrm flipH="1">
            <a:off x="10983190" y="5690889"/>
            <a:ext cx="1194954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2</a:t>
            </a:r>
            <a:endParaRPr lang="en-CM" sz="36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3055"/>
            <a:ext cx="5324475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887884"/>
            <a:ext cx="559069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Centralized Digital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335559"/>
            <a:ext cx="5324475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rgbClr val="475569"/>
                </a:solidFill>
                <a:latin typeface="Inter"/>
              </a:rPr>
              <a:t>InternFlow replaces </a:t>
            </a:r>
            <a:r>
              <a:rPr lang="en-US" sz="1275" b="0" i="0" u="none" dirty="0">
                <a:solidFill>
                  <a:srgbClr val="475569"/>
                </a:solidFill>
                <a:latin typeface="Inter"/>
              </a:rPr>
              <a:t>Manual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paper workflows with an </a:t>
            </a:r>
            <a:r>
              <a:rPr lang="en-US" sz="1275" b="0" i="0" u="none" dirty="0">
                <a:solidFill>
                  <a:srgbClr val="475569"/>
                </a:solidFill>
                <a:latin typeface="Inter"/>
              </a:rPr>
              <a:t>Automated</a:t>
            </a:r>
            <a:r>
              <a:rPr lang="en-US" sz="1275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digital platform designed to </a:t>
            </a:r>
            <a:r>
              <a:rPr lang="en-US" sz="1275" b="0" i="0" u="none" dirty="0">
                <a:solidFill>
                  <a:srgbClr val="475569"/>
                </a:solidFill>
                <a:latin typeface="Inter"/>
              </a:rPr>
              <a:t>Facilitate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core internship activities: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" y="320429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202632"/>
            <a:ext cx="51339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Digital Registration: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Instant intern profile setup and automated credential generation.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" y="382044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818780"/>
            <a:ext cx="51339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Attendance Tracking: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Real-time clock-in/out logging with status categorization.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443659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434929"/>
            <a:ext cx="51339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Supervisor Assignment: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Structured grouping and clear supervisor allocation.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5052744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5051077"/>
            <a:ext cx="51339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Performance Reporting: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Automated evaluation scoring and printable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Proposed Solution: InternFlow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874205-EB6E-F48F-E783-04AEFE82D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635905"/>
            <a:ext cx="6129183" cy="3856150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ED88A2F-BF2C-ACA7-8561-98F5F9B9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6337" y="636933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t>3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C5C1663C-46DE-4FA9-C5A4-72672BC5FE63}"/>
              </a:ext>
            </a:extLst>
          </p:cNvPr>
          <p:cNvSpPr/>
          <p:nvPr/>
        </p:nvSpPr>
        <p:spPr>
          <a:xfrm flipH="1">
            <a:off x="10983190" y="5690889"/>
            <a:ext cx="1194954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3</a:t>
            </a:r>
            <a:endParaRPr lang="en-CM" sz="36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94956"/>
            <a:ext cx="12192000" cy="805076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050413"/>
            <a:ext cx="3524250" cy="26465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050413"/>
            <a:ext cx="3524250" cy="264650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1050413"/>
            <a:ext cx="3524250" cy="264650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345688"/>
            <a:ext cx="533400" cy="4606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2069588"/>
            <a:ext cx="3200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1E293B"/>
                </a:solidFill>
                <a:latin typeface="Poppins SemiBold"/>
              </a:rPr>
              <a:t>HTML5 &amp;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450588"/>
            <a:ext cx="3048000" cy="1004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rgbClr val="475569"/>
                </a:solidFill>
                <a:latin typeface="Inter"/>
              </a:rPr>
              <a:t>Provides </a:t>
            </a:r>
            <a:r>
              <a:rPr lang="en-US" sz="1275" dirty="0">
                <a:solidFill>
                  <a:srgbClr val="475569"/>
                </a:solidFill>
                <a:latin typeface="Inter"/>
              </a:rPr>
              <a:t>Backbone Structure 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and modern responsive styling. Custom layouts ensure clean navigation across login, intern, supervisor, attendance, and reporting pages.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345688"/>
            <a:ext cx="533400" cy="4606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2069588"/>
            <a:ext cx="3200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JavaScript &amp; IndexedDB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50588"/>
            <a:ext cx="3048000" cy="125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Powers client-side application logic and uses browser-native IndexedDB for high-performance, offline-capable database storage without expensive backend servers.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1345688"/>
            <a:ext cx="533400" cy="460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4850" y="2069588"/>
            <a:ext cx="3200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UML &amp; Jira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2450588"/>
            <a:ext cx="3048000" cy="125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System architecture designed using Unified Modeling Language (Use Cases, Class/ERD). Task allocation and sprint scheduling managed systematically via Jira.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1488563"/>
            <a:ext cx="190500" cy="21388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9162" y="1488563"/>
            <a:ext cx="219075" cy="21388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725" y="1488563"/>
            <a:ext cx="247650" cy="213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Core Technology Stack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0177FDC-3C97-DA84-2457-359EB987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22427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t>4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C2910983-CD31-67E1-ECF0-1C651FAB0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892408"/>
            <a:ext cx="3524250" cy="2646504"/>
          </a:xfrm>
          <a:prstGeom prst="rect">
            <a:avLst/>
          </a:prstGeom>
        </p:spPr>
      </p:pic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1F48CFFD-031D-31B5-C0FB-02F43F3B8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43" y="4213601"/>
            <a:ext cx="546791" cy="47222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6302387-D0D7-6DC9-CE70-01013E24E16C}"/>
              </a:ext>
            </a:extLst>
          </p:cNvPr>
          <p:cNvSpPr txBox="1"/>
          <p:nvPr/>
        </p:nvSpPr>
        <p:spPr>
          <a:xfrm>
            <a:off x="678007" y="4716092"/>
            <a:ext cx="155603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0" u="none" dirty="0">
                <a:solidFill>
                  <a:srgbClr val="1E293B"/>
                </a:solidFill>
                <a:latin typeface="Poppins SemiBold"/>
              </a:rPr>
              <a:t>Git &amp; GitHub</a:t>
            </a:r>
          </a:p>
        </p:txBody>
      </p:sp>
      <p:pic>
        <p:nvPicPr>
          <p:cNvPr id="28" name="Graphic 27" descr="Cheers with solid fill">
            <a:extLst>
              <a:ext uri="{FF2B5EF4-FFF2-40B4-BE49-F238E27FC236}">
                <a16:creationId xmlns:a16="http://schemas.microsoft.com/office/drawing/2014/main" id="{EA17C9CF-5BF5-61AF-4439-1DBADEC92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5908" y="4268742"/>
            <a:ext cx="361949" cy="36194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8FD06C6-117E-B97A-7D53-F5432257651E}"/>
              </a:ext>
            </a:extLst>
          </p:cNvPr>
          <p:cNvSpPr txBox="1"/>
          <p:nvPr/>
        </p:nvSpPr>
        <p:spPr>
          <a:xfrm>
            <a:off x="678008" y="5081957"/>
            <a:ext cx="3435061" cy="84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275" dirty="0">
                <a:solidFill>
                  <a:srgbClr val="475569"/>
                </a:solidFill>
                <a:latin typeface="Inter"/>
              </a:rPr>
              <a:t>Provides virtual storage and space for collaboration within our team and synchronizes our workflow with simple Git commands</a:t>
            </a:r>
            <a:endParaRPr lang="en-US" sz="127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01130594-3AE9-02C2-D3AD-39F0808B837A}"/>
              </a:ext>
            </a:extLst>
          </p:cNvPr>
          <p:cNvSpPr/>
          <p:nvPr/>
        </p:nvSpPr>
        <p:spPr>
          <a:xfrm flipH="1">
            <a:off x="10997046" y="5699782"/>
            <a:ext cx="1194954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4</a:t>
            </a:r>
            <a:endParaRPr lang="en-CM" sz="3600" dirty="0">
              <a:latin typeface="+mj-lt"/>
            </a:endParaRP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78CE602C-F166-6E57-CFD8-35B53DA02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3892408"/>
            <a:ext cx="3524250" cy="2646504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3C96A7E8-C183-4385-263F-DBA469C18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0634" y="4160868"/>
            <a:ext cx="546791" cy="47222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8F3435D-E52E-AC40-2E5F-42DBFB637840}"/>
              </a:ext>
            </a:extLst>
          </p:cNvPr>
          <p:cNvSpPr txBox="1"/>
          <p:nvPr/>
        </p:nvSpPr>
        <p:spPr>
          <a:xfrm>
            <a:off x="4440409" y="4716091"/>
            <a:ext cx="155603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0" u="none" dirty="0">
                <a:solidFill>
                  <a:srgbClr val="1E293B"/>
                </a:solidFill>
                <a:latin typeface="Poppins SemiBold"/>
              </a:rPr>
              <a:t>Claude.ai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51D6F0-3CEC-424D-C055-2032F7D63EF0}"/>
              </a:ext>
            </a:extLst>
          </p:cNvPr>
          <p:cNvSpPr txBox="1"/>
          <p:nvPr/>
        </p:nvSpPr>
        <p:spPr>
          <a:xfrm>
            <a:off x="4326081" y="5051430"/>
            <a:ext cx="3086098" cy="58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275" dirty="0">
                <a:solidFill>
                  <a:srgbClr val="475569"/>
                </a:solidFill>
                <a:latin typeface="Inter"/>
              </a:rPr>
              <a:t>Helped with debugging code and explanation of complex functions</a:t>
            </a:r>
            <a:endParaRPr lang="en-US" sz="1275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37" name="Graphic 36" descr="Brain with solid fill">
            <a:extLst>
              <a:ext uri="{FF2B5EF4-FFF2-40B4-BE49-F238E27FC236}">
                <a16:creationId xmlns:a16="http://schemas.microsoft.com/office/drawing/2014/main" id="{6736A03B-E30B-E5A2-051D-74E5ED46A5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17618" y="4100778"/>
            <a:ext cx="472229" cy="4722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996082"/>
            <a:ext cx="11029950" cy="612874"/>
          </a:xfrm>
          <a:prstGeom prst="roundRect">
            <a:avLst>
              <a:gd name="adj" fmla="val 155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2525" y="2167532"/>
            <a:ext cx="10267950" cy="269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Intern Registration Module: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Standard users and Admins register, list, update, view details, and delete intern records smoothly.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2761357"/>
            <a:ext cx="11029950" cy="863798"/>
          </a:xfrm>
          <a:prstGeom prst="roundRect">
            <a:avLst>
              <a:gd name="adj" fmla="val 11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525" y="2932807"/>
            <a:ext cx="10267950" cy="520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Supervisor Management Module: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Admin creates supervisors, defines roles, creates groups, and maps interns to designated supervisors.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3777555"/>
            <a:ext cx="11029950" cy="612874"/>
          </a:xfrm>
          <a:prstGeom prst="roundRect">
            <a:avLst>
              <a:gd name="adj" fmla="val 155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525" y="3949005"/>
            <a:ext cx="10267950" cy="269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Attendance Tracking Module: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Automated daily attendance clock-in, historical attendance listing, and status filter for administrators.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4542829"/>
            <a:ext cx="11029950" cy="863798"/>
          </a:xfrm>
          <a:prstGeom prst="roundRect">
            <a:avLst>
              <a:gd name="adj" fmla="val 11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525" y="4714279"/>
            <a:ext cx="10267950" cy="520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Performance Reporting Module: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Input evaluation scores, calculate cumulative performance metrics, and generate printable summary cards.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2599432"/>
            <a:ext cx="11029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615630"/>
            <a:ext cx="11029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380904"/>
            <a:ext cx="11029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5397103"/>
            <a:ext cx="11029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191345"/>
            <a:ext cx="23812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2956619"/>
            <a:ext cx="26670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972817"/>
            <a:ext cx="18097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738092"/>
            <a:ext cx="16192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Poppins"/>
              </a:rPr>
              <a:t>System Functional Architecture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2C23B80-8EFC-5E41-56D9-E6B9FF72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4382" y="63722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t>5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BC97B416-9FAF-56B3-FCCC-F2BC9E21AC3D}"/>
              </a:ext>
            </a:extLst>
          </p:cNvPr>
          <p:cNvSpPr/>
          <p:nvPr/>
        </p:nvSpPr>
        <p:spPr>
          <a:xfrm flipH="1">
            <a:off x="10983190" y="5690889"/>
            <a:ext cx="1194954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5</a:t>
            </a:r>
            <a:endParaRPr lang="en-CM" sz="36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B8EB86-1B2C-D307-33F0-33F9625A0D5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14" y="910127"/>
            <a:ext cx="5561185" cy="37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9AD182-0313-9B38-994C-3E3C0CBFC094}"/>
              </a:ext>
            </a:extLst>
          </p:cNvPr>
          <p:cNvSpPr txBox="1"/>
          <p:nvPr/>
        </p:nvSpPr>
        <p:spPr>
          <a:xfrm>
            <a:off x="534815" y="257804"/>
            <a:ext cx="609426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Poppins"/>
              </a:rPr>
              <a:t>USE CASE DIAGRAMS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DD8A8-6D03-1873-AC4D-7B462B29E597}"/>
              </a:ext>
            </a:extLst>
          </p:cNvPr>
          <p:cNvSpPr txBox="1"/>
          <p:nvPr/>
        </p:nvSpPr>
        <p:spPr>
          <a:xfrm>
            <a:off x="436418" y="4804748"/>
            <a:ext cx="5202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1: </a:t>
            </a:r>
            <a:r>
              <a:rPr lang="en-US" dirty="0"/>
              <a:t>User can register, list, update, delete interns and also view details about interns, while the Admin has all these privileges, it can also create new interns</a:t>
            </a:r>
          </a:p>
          <a:p>
            <a:endParaRPr lang="en-CM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7B9F5-C755-4CD1-9C2B-8C221D0F021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764" y="910127"/>
            <a:ext cx="5988627" cy="37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F633A9-9DDA-C6B7-FB9B-9037634B642E}"/>
              </a:ext>
            </a:extLst>
          </p:cNvPr>
          <p:cNvSpPr txBox="1"/>
          <p:nvPr/>
        </p:nvSpPr>
        <p:spPr>
          <a:xfrm>
            <a:off x="6348845" y="4644736"/>
            <a:ext cx="54067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2: </a:t>
            </a:r>
            <a:r>
              <a:rPr lang="en-US" dirty="0"/>
              <a:t>User can register, list, update, delete Supervisor and also view details about interns, while the Admin has all these privileges, it can also create new supervisors and Assign them.</a:t>
            </a:r>
          </a:p>
          <a:p>
            <a:endParaRPr lang="en-CM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10A11C3-9C94-842E-EAB3-8AB241697BB0}"/>
              </a:ext>
            </a:extLst>
          </p:cNvPr>
          <p:cNvSpPr/>
          <p:nvPr/>
        </p:nvSpPr>
        <p:spPr>
          <a:xfrm flipH="1">
            <a:off x="10983190" y="5690889"/>
            <a:ext cx="1194954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6</a:t>
            </a:r>
            <a:endParaRPr lang="en-CM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0519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AC844C-BE19-58D9-FB57-75719334B13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8" y="696191"/>
            <a:ext cx="6040582" cy="348095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204581-223C-F4D8-2735-D55201EF9255}"/>
              </a:ext>
            </a:extLst>
          </p:cNvPr>
          <p:cNvSpPr txBox="1"/>
          <p:nvPr/>
        </p:nvSpPr>
        <p:spPr>
          <a:xfrm>
            <a:off x="353291" y="4312227"/>
            <a:ext cx="4883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3: </a:t>
            </a:r>
            <a:r>
              <a:rPr lang="en-US" dirty="0"/>
              <a:t>User registers attendance and list attendance, while Admin has all privileges, he can also create, delete attendance.</a:t>
            </a:r>
          </a:p>
          <a:p>
            <a:endParaRPr lang="en-CM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5329F3-2480-4BA6-48F5-6FEA75BB3587}"/>
              </a:ext>
            </a:extLst>
          </p:cNvPr>
          <p:cNvSpPr txBox="1"/>
          <p:nvPr/>
        </p:nvSpPr>
        <p:spPr>
          <a:xfrm>
            <a:off x="353291" y="193489"/>
            <a:ext cx="609426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Poppins"/>
              </a:rPr>
              <a:t>USE CASE DIAGRAMS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D4D459-3E98-46A0-B72A-32F2E409200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96191"/>
            <a:ext cx="5998988" cy="348095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7F4E70-3B5B-52C0-DC4B-2D9B47E4BA8F}"/>
              </a:ext>
            </a:extLst>
          </p:cNvPr>
          <p:cNvSpPr txBox="1"/>
          <p:nvPr/>
        </p:nvSpPr>
        <p:spPr>
          <a:xfrm>
            <a:off x="6553200" y="4312227"/>
            <a:ext cx="5209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4: </a:t>
            </a:r>
            <a:r>
              <a:rPr lang="en-US" dirty="0"/>
              <a:t>User can register, list, print performance. Admin can create performance, delete and also carry out all privileges as the User</a:t>
            </a:r>
          </a:p>
          <a:p>
            <a:endParaRPr lang="en-CM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1A487361-BCDF-F9B2-5E0B-81723609B4E0}"/>
              </a:ext>
            </a:extLst>
          </p:cNvPr>
          <p:cNvSpPr/>
          <p:nvPr/>
        </p:nvSpPr>
        <p:spPr>
          <a:xfrm flipH="1">
            <a:off x="10983190" y="5690889"/>
            <a:ext cx="1194954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7</a:t>
            </a:r>
            <a:endParaRPr lang="en-CM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6017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83C7653D-C841-6B9E-B476-2A005D618CB7}"/>
              </a:ext>
            </a:extLst>
          </p:cNvPr>
          <p:cNvSpPr/>
          <p:nvPr/>
        </p:nvSpPr>
        <p:spPr>
          <a:xfrm flipH="1">
            <a:off x="10983190" y="5690889"/>
            <a:ext cx="1194954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8</a:t>
            </a:r>
            <a:endParaRPr lang="en-CM" sz="36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F55B9-1E4F-4FC8-D0B9-946D2BB6EB6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41" y="921933"/>
            <a:ext cx="9200314" cy="441899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7D4168-1FB5-ABC6-3179-5E4F72B6D68B}"/>
              </a:ext>
            </a:extLst>
          </p:cNvPr>
          <p:cNvSpPr txBox="1"/>
          <p:nvPr/>
        </p:nvSpPr>
        <p:spPr>
          <a:xfrm>
            <a:off x="338541" y="5434315"/>
            <a:ext cx="3875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5: </a:t>
            </a:r>
            <a:r>
              <a:rPr lang="en-US" dirty="0"/>
              <a:t>Admin can register/create, delete, update, list users</a:t>
            </a:r>
          </a:p>
          <a:p>
            <a:endParaRPr lang="en-CM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5A34A5-4C7E-3145-30AC-4F8145F25DFB}"/>
              </a:ext>
            </a:extLst>
          </p:cNvPr>
          <p:cNvSpPr txBox="1"/>
          <p:nvPr/>
        </p:nvSpPr>
        <p:spPr>
          <a:xfrm>
            <a:off x="251980" y="325843"/>
            <a:ext cx="611505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Poppins"/>
              </a:rPr>
              <a:t>USE CASE DIAGRAMS</a:t>
            </a:r>
          </a:p>
        </p:txBody>
      </p:sp>
    </p:spTree>
    <p:extLst>
      <p:ext uri="{BB962C8B-B14F-4D97-AF65-F5344CB8AC3E}">
        <p14:creationId xmlns:p14="http://schemas.microsoft.com/office/powerpoint/2010/main" val="140379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914802-6781-4AAF-180F-BBDC369B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6E5E42D-C4B1-7FB4-9457-7B28B8B36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A7B0DD-F1F2-F951-AA35-7BD0CEBCB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93" y="871180"/>
            <a:ext cx="9593014" cy="51156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25E81B-E48E-1F09-EE88-EC1D9CB173CF}"/>
              </a:ext>
            </a:extLst>
          </p:cNvPr>
          <p:cNvSpPr txBox="1"/>
          <p:nvPr/>
        </p:nvSpPr>
        <p:spPr>
          <a:xfrm>
            <a:off x="1207944" y="250765"/>
            <a:ext cx="8621856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Poppins"/>
              </a:rPr>
              <a:t>CLASS DIAGRAM</a:t>
            </a:r>
          </a:p>
        </p:txBody>
      </p:sp>
      <p:sp>
        <p:nvSpPr>
          <p:cNvPr id="12" name="Slide Number Placeholder 19">
            <a:extLst>
              <a:ext uri="{FF2B5EF4-FFF2-40B4-BE49-F238E27FC236}">
                <a16:creationId xmlns:a16="http://schemas.microsoft.com/office/drawing/2014/main" id="{B62B36A6-E78F-CA63-5352-6139211A30DE}"/>
              </a:ext>
            </a:extLst>
          </p:cNvPr>
          <p:cNvSpPr txBox="1">
            <a:spLocks/>
          </p:cNvSpPr>
          <p:nvPr/>
        </p:nvSpPr>
        <p:spPr>
          <a:xfrm>
            <a:off x="9774382" y="63722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pPr/>
              <a:t>9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647243C5-9689-1DDB-36E2-DBE4B3E912A6}"/>
              </a:ext>
            </a:extLst>
          </p:cNvPr>
          <p:cNvSpPr/>
          <p:nvPr/>
        </p:nvSpPr>
        <p:spPr>
          <a:xfrm flipH="1">
            <a:off x="10983190" y="5690889"/>
            <a:ext cx="1194954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9</a:t>
            </a:r>
            <a:endParaRPr lang="en-CM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10578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67905"/>
            <a:ext cx="3095625" cy="2019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2013" y="3302040"/>
            <a:ext cx="2805112" cy="951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 dirty="0">
                <a:solidFill>
                  <a:srgbClr val="2563EB"/>
                </a:solidFill>
                <a:latin typeface="Poppins"/>
              </a:rPr>
              <a:t>10</a:t>
            </a:r>
            <a:r>
              <a:rPr lang="en-US" sz="7200" b="1" i="0" u="none" dirty="0">
                <a:solidFill>
                  <a:srgbClr val="2563EB"/>
                </a:solidFill>
                <a:latin typeface="Poppins"/>
              </a:rPr>
              <a:t>0</a:t>
            </a:r>
            <a:r>
              <a:rPr sz="7200" b="1" i="0" u="none" dirty="0">
                <a:solidFill>
                  <a:srgbClr val="2563EB"/>
                </a:solidFill>
                <a:latin typeface="Poppins"/>
              </a:rPr>
              <a:t>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4168080"/>
            <a:ext cx="231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E3A8A"/>
                </a:solidFill>
                <a:latin typeface="Inter SemiBold"/>
              </a:rPr>
              <a:t>Client-Side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150" y="2539007"/>
            <a:ext cx="773096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Zero Server Overhead &amp; Maximum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150" y="3091457"/>
            <a:ext cx="7362825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InternFlow runs entirely within the client's browser using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IndexedDB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— requiring zero remote server infrastructure or subscription hosting costs.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150" y="3707606"/>
            <a:ext cx="736282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Key Advantages: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3900" y="411259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9150" y="4110930"/>
            <a:ext cx="6981825" cy="250924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Offline Capability: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Operates reliably even when internet connectivity drops.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436352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150" y="4361854"/>
            <a:ext cx="6981825" cy="250924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Data Privacy: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All sensitive intern records remain securely stored on the device.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461444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4612778"/>
            <a:ext cx="6981825" cy="250924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Instant Response: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Zero network latency for fast data queries and report generation.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Key Engineering Advantage</a:t>
            </a:r>
          </a:p>
        </p:txBody>
      </p:sp>
      <p:sp>
        <p:nvSpPr>
          <p:cNvPr id="18" name="Slide Number Placeholder 19">
            <a:extLst>
              <a:ext uri="{FF2B5EF4-FFF2-40B4-BE49-F238E27FC236}">
                <a16:creationId xmlns:a16="http://schemas.microsoft.com/office/drawing/2014/main" id="{9FD4E606-CA59-1412-549D-4507361F43D2}"/>
              </a:ext>
            </a:extLst>
          </p:cNvPr>
          <p:cNvSpPr txBox="1">
            <a:spLocks/>
          </p:cNvSpPr>
          <p:nvPr/>
        </p:nvSpPr>
        <p:spPr>
          <a:xfrm>
            <a:off x="9774382" y="63722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pPr/>
              <a:t>10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95368941-090B-5B0E-EBDA-5D269ED6443B}"/>
              </a:ext>
            </a:extLst>
          </p:cNvPr>
          <p:cNvSpPr/>
          <p:nvPr/>
        </p:nvSpPr>
        <p:spPr>
          <a:xfrm flipH="1">
            <a:off x="10713027" y="5690889"/>
            <a:ext cx="1465117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10</a:t>
            </a:r>
            <a:endParaRPr lang="en-CM" sz="3600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3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334344"/>
            <a:ext cx="2426493" cy="13531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794" y="3005732"/>
            <a:ext cx="2426493" cy="13531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563" y="3345649"/>
            <a:ext cx="2426493" cy="13531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332" y="3005732"/>
            <a:ext cx="2426493" cy="13531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139082"/>
            <a:ext cx="110299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050" y="3586757"/>
            <a:ext cx="212776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oppins SemiBold"/>
              </a:rPr>
              <a:t>1. Login &amp;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920132"/>
            <a:ext cx="2026443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Admin signs into the portal and sets up user roles &amp; permissions.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819" y="3205757"/>
            <a:ext cx="212776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oppins SemiBold"/>
              </a:rPr>
              <a:t>2.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819" y="3539132"/>
            <a:ext cx="2026443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Interns &amp; Supervisors registered into IndexedDB with bio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588" y="3586757"/>
            <a:ext cx="212776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oppins SemiBold"/>
              </a:rPr>
              <a:t>3. Grouping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588" y="3920132"/>
            <a:ext cx="2026443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Interns assigned into groups and linked to supervisor profiles.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4357" y="3205757"/>
            <a:ext cx="212776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oppins SemiBold"/>
              </a:rPr>
              <a:t>4. Evaluate &amp; 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4357" y="3539132"/>
            <a:ext cx="2026443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Daily attendance tracked; performance reports generated &amp; printed.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End-to-End System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83313" y="318521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513918" y="294054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89970" y="317248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10257739" y="294054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lide Number Placeholder 19">
            <a:extLst>
              <a:ext uri="{FF2B5EF4-FFF2-40B4-BE49-F238E27FC236}">
                <a16:creationId xmlns:a16="http://schemas.microsoft.com/office/drawing/2014/main" id="{11EC6B38-A806-EE26-CAFB-45679463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4382" y="63722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t>11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3F9ED4B0-107E-34B2-15C2-CF03F3C860A2}"/>
              </a:ext>
            </a:extLst>
          </p:cNvPr>
          <p:cNvSpPr/>
          <p:nvPr/>
        </p:nvSpPr>
        <p:spPr>
          <a:xfrm flipH="1">
            <a:off x="10681855" y="5690889"/>
            <a:ext cx="1496289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11</a:t>
            </a:r>
            <a:endParaRPr lang="en-CM" sz="3600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590698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System Features Overview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1D06E2A2-F7E0-281A-ADAA-51EA9ABF5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5" y="1012494"/>
            <a:ext cx="11700853" cy="5124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259883-FCAB-A0CB-21EA-2D80EF976CD9}"/>
              </a:ext>
            </a:extLst>
          </p:cNvPr>
          <p:cNvSpPr txBox="1"/>
          <p:nvPr/>
        </p:nvSpPr>
        <p:spPr>
          <a:xfrm>
            <a:off x="1593509" y="2090657"/>
            <a:ext cx="8117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cs typeface="Times New Roman" panose="02020603050405020304" pitchFamily="18" charset="0"/>
              </a:rPr>
              <a:t>Features include single-click intern creation, dynamic supervisor assignment, automated attendance verification, and instant print-ready performance reports.</a:t>
            </a:r>
          </a:p>
          <a:p>
            <a:endParaRPr lang="en-CM" b="1" dirty="0">
              <a:solidFill>
                <a:schemeClr val="tx1">
                  <a:lumMod val="65000"/>
                  <a:lumOff val="35000"/>
                </a:schemeClr>
              </a:solidFill>
              <a:latin typeface="Inter"/>
              <a:cs typeface="Times New Roman" panose="02020603050405020304" pitchFamily="18" charset="0"/>
            </a:endParaRP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493BE9C-294C-941A-E697-9E8B7405E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59" y="2135526"/>
            <a:ext cx="552450" cy="49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83984" y="3023512"/>
            <a:ext cx="5324475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cs typeface="Times New Roman" panose="02020603050405020304" pitchFamily="18" charset="0"/>
              </a:rPr>
              <a:t>InternFlow provides a modern, clean interface for administrators and team leads at PRESPRINT PLC.</a:t>
            </a: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93034C35-E8A9-922F-03E7-7887A2C1C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97" y="3013987"/>
            <a:ext cx="523875" cy="495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1059" y="1576152"/>
            <a:ext cx="559069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1E293B"/>
                </a:solidFill>
                <a:latin typeface="Poppins SemiBold"/>
              </a:rPr>
              <a:t>Built for Efficiency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327035-E83F-7354-E8B7-3158EE1AFAB1}"/>
              </a:ext>
            </a:extLst>
          </p:cNvPr>
          <p:cNvSpPr txBox="1"/>
          <p:nvPr/>
        </p:nvSpPr>
        <p:spPr>
          <a:xfrm>
            <a:off x="1593509" y="3899885"/>
            <a:ext cx="318039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cs typeface="Times New Roman" panose="02020603050405020304" pitchFamily="18" charset="0"/>
              </a:rPr>
              <a:t>Assign Groups &amp; Departments</a:t>
            </a:r>
            <a:r>
              <a:rPr lang="en-US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cs typeface="Times New Roman" panose="02020603050405020304" pitchFamily="18" charset="0"/>
              </a:rPr>
              <a:t> and </a:t>
            </a:r>
            <a:endParaRPr b="1" i="0" u="none" dirty="0">
              <a:solidFill>
                <a:schemeClr val="tx1">
                  <a:lumMod val="65000"/>
                  <a:lumOff val="35000"/>
                </a:schemeClr>
              </a:solidFill>
              <a:latin typeface="Inter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D80C5E-2D80-6D8F-7601-EBE8BDDE08F0}"/>
              </a:ext>
            </a:extLst>
          </p:cNvPr>
          <p:cNvSpPr txBox="1"/>
          <p:nvPr/>
        </p:nvSpPr>
        <p:spPr>
          <a:xfrm>
            <a:off x="1974403" y="41295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cs typeface="Times New Roman" panose="02020603050405020304" pitchFamily="18" charset="0"/>
              </a:rPr>
              <a:t>Full Delete &amp; Management</a:t>
            </a: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D126A0A7-AB93-F583-95DF-D4056A1EFC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97" y="3958583"/>
            <a:ext cx="466725" cy="495300"/>
          </a:xfrm>
          <a:prstGeom prst="rect">
            <a:avLst/>
          </a:prstGeom>
        </p:spPr>
      </p:pic>
      <p:sp>
        <p:nvSpPr>
          <p:cNvPr id="25" name="Slide Number Placeholder 19">
            <a:extLst>
              <a:ext uri="{FF2B5EF4-FFF2-40B4-BE49-F238E27FC236}">
                <a16:creationId xmlns:a16="http://schemas.microsoft.com/office/drawing/2014/main" id="{0D8127B0-8E84-C97A-7A76-BE64BA93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4382" y="63722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t>12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D99609EB-661A-F835-8198-82A6B5CBAAA4}"/>
              </a:ext>
            </a:extLst>
          </p:cNvPr>
          <p:cNvSpPr/>
          <p:nvPr/>
        </p:nvSpPr>
        <p:spPr>
          <a:xfrm flipH="1">
            <a:off x="10785762" y="5845505"/>
            <a:ext cx="1392379" cy="1001413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12</a:t>
            </a:r>
            <a:endParaRPr lang="en-CM" sz="3600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89683"/>
            <a:ext cx="5372100" cy="35757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989683"/>
            <a:ext cx="5372100" cy="357574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2294483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2675483"/>
            <a:ext cx="495061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Project Management via Jira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3104108"/>
            <a:ext cx="4714875" cy="235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275" b="0" i="0" u="none" dirty="0">
                <a:solidFill>
                  <a:srgbClr val="475569"/>
                </a:solidFill>
                <a:latin typeface="Inter"/>
              </a:rPr>
              <a:t>We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utilized Jira to streamline development and ensure accountability: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300" y="2294483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91300" y="2675483"/>
            <a:ext cx="495061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Project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3104108"/>
            <a:ext cx="471487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Key achievements from the project delivery: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72192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3720256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Tasks split into discrete modules (UI, Database, Logic, Diagrams).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31902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4317355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Daily sprint tracking for continuous progress and bug resolution.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491612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950" y="4914453"/>
            <a:ext cx="4524375" cy="250924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Equitable work distribution among all team members.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6550" y="347099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469332"/>
            <a:ext cx="4524375" cy="250924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Eliminated manual logbooks at PRESPRINT PLC.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6550" y="381717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3815506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Demonstrated full software lifecycle from UML to browser deployment.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6550" y="441427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0" y="4412605"/>
            <a:ext cx="4524375" cy="501848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Extensible architecture ready for future cloud sync or biometric integration.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485775"/>
            <a:ext cx="11581447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Agile Execution &amp; Team Workflow</a:t>
            </a:r>
          </a:p>
        </p:txBody>
      </p:sp>
      <p:sp>
        <p:nvSpPr>
          <p:cNvPr id="26" name="Slide Number Placeholder 19">
            <a:extLst>
              <a:ext uri="{FF2B5EF4-FFF2-40B4-BE49-F238E27FC236}">
                <a16:creationId xmlns:a16="http://schemas.microsoft.com/office/drawing/2014/main" id="{E2B52338-CC2E-96B4-0135-D1535C9D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4382" y="63722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t>13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87C2BB21-F002-72DA-F3E2-7B5F76B00049}"/>
              </a:ext>
            </a:extLst>
          </p:cNvPr>
          <p:cNvSpPr/>
          <p:nvPr/>
        </p:nvSpPr>
        <p:spPr>
          <a:xfrm flipH="1">
            <a:off x="10841181" y="5701970"/>
            <a:ext cx="1350819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13</a:t>
            </a:r>
            <a:endParaRPr lang="en-CM" sz="3600" dirty="0"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70509" y="2127498"/>
            <a:ext cx="7850981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oppins"/>
              </a:rPr>
              <a:t>Live System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365748"/>
            <a:ext cx="762000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24125" y="3641973"/>
            <a:ext cx="7143750" cy="974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DBEAFE"/>
                </a:solidFill>
                <a:latin typeface="Inter"/>
              </a:rPr>
              <a:t>We will now walk you through the live InternFlow software, showcasing Login, Intern Onboarding, Group Assignment, Attendance Tracking, and Performance Reporting.</a:t>
            </a:r>
          </a:p>
        </p:txBody>
      </p:sp>
      <p:sp>
        <p:nvSpPr>
          <p:cNvPr id="8" name="Slide Number Placeholder 19">
            <a:extLst>
              <a:ext uri="{FF2B5EF4-FFF2-40B4-BE49-F238E27FC236}">
                <a16:creationId xmlns:a16="http://schemas.microsoft.com/office/drawing/2014/main" id="{7047C0B9-F701-66C0-2BDE-973FD3A0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4382" y="63722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t>14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478BDD10-CE2C-F6F9-0BA5-8BA008C258EF}"/>
              </a:ext>
            </a:extLst>
          </p:cNvPr>
          <p:cNvSpPr/>
          <p:nvPr/>
        </p:nvSpPr>
        <p:spPr>
          <a:xfrm flipH="1">
            <a:off x="10785764" y="5690889"/>
            <a:ext cx="1392380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14</a:t>
            </a:r>
            <a:endParaRPr lang="en-CM" sz="3600" dirty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66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3676947"/>
            <a:ext cx="4895850" cy="13814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1799629"/>
            <a:ext cx="11581447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856904"/>
            <a:ext cx="1102995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Thank you for your time and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3953172"/>
            <a:ext cx="4114800" cy="265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GROUP 1 PROJECT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8600" y="4256930"/>
            <a:ext cx="4114800" cy="265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sz="1350" b="0" i="0" u="none">
                <a:solidFill>
                  <a:srgbClr val="1E293B"/>
                </a:solidFill>
                <a:latin typeface="Inter Medium"/>
              </a:rPr>
              <a:t>Ngene Brandon | Ngefor Marion | Nchang Vigiline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8600" y="4560689"/>
            <a:ext cx="4114800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lang="en-US" sz="1125" b="0" i="0" u="none" dirty="0">
                <a:solidFill>
                  <a:srgbClr val="64748B"/>
                </a:solidFill>
                <a:latin typeface="Inter Medium"/>
              </a:rPr>
              <a:t>PDL </a:t>
            </a:r>
            <a:r>
              <a:rPr sz="1125" b="0" i="0" u="none" dirty="0">
                <a:solidFill>
                  <a:srgbClr val="64748B"/>
                </a:solidFill>
                <a:latin typeface="Inter Medium"/>
              </a:rPr>
              <a:t>Department | PRESPRINT PLC</a:t>
            </a:r>
          </a:p>
        </p:txBody>
      </p:sp>
      <p:sp>
        <p:nvSpPr>
          <p:cNvPr id="11" name="Slide Number Placeholder 19">
            <a:extLst>
              <a:ext uri="{FF2B5EF4-FFF2-40B4-BE49-F238E27FC236}">
                <a16:creationId xmlns:a16="http://schemas.microsoft.com/office/drawing/2014/main" id="{6BB2949D-A4AC-587B-BF5F-A970E152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4382" y="63722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z="2000" smtClean="0">
                <a:solidFill>
                  <a:schemeClr val="tx1"/>
                </a:solidFill>
                <a:highlight>
                  <a:srgbClr val="FFFF00"/>
                </a:highlight>
              </a:rPr>
              <a:t>15</a:t>
            </a:fld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C84CE61-BFC7-0338-71F0-4281526C3AF2}"/>
              </a:ext>
            </a:extLst>
          </p:cNvPr>
          <p:cNvSpPr/>
          <p:nvPr/>
        </p:nvSpPr>
        <p:spPr>
          <a:xfrm flipH="1">
            <a:off x="10796155" y="5690889"/>
            <a:ext cx="1381989" cy="1156030"/>
          </a:xfrm>
          <a:prstGeom prst="rtTriangle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15</a:t>
            </a:r>
            <a:endParaRPr lang="en-CM" sz="36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965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Brandon</dc:creator>
  <cp:keywords/>
  <dc:description>generated using python-pptx</dc:description>
  <cp:lastModifiedBy>Brandon ngene</cp:lastModifiedBy>
  <cp:revision>17</cp:revision>
  <dcterms:created xsi:type="dcterms:W3CDTF">2013-01-27T09:14:16Z</dcterms:created>
  <dcterms:modified xsi:type="dcterms:W3CDTF">2026-08-20T18:34:17Z</dcterms:modified>
  <cp:category/>
</cp:coreProperties>
</file>